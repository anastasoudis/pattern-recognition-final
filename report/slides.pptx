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6"/>
    <p:sldId id="257" r:id="rId17"/>
    <p:sldId id="258" r:id="rId18"/>
    <p:sldId id="259" r:id="rId19"/>
    <p:sldId id="260" r:id="rId20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Calibri (MS)" charset="1" panose="020F0502020204030204"/>
      <p:regular r:id="rId10"/>
    </p:embeddedFont>
    <p:embeddedFont>
      <p:font typeface="Calibri (MS) Bold" charset="1" panose="020F0702030404030204"/>
      <p:regular r:id="rId11"/>
    </p:embeddedFont>
    <p:embeddedFont>
      <p:font typeface="Calibri (MS) Italics" charset="1" panose="020F05020202040A0204"/>
      <p:regular r:id="rId12"/>
    </p:embeddedFont>
    <p:embeddedFont>
      <p:font typeface="Calibri (MS) Bold Italics" charset="1" panose="020F07020304040A0204"/>
      <p:regular r:id="rId13"/>
    </p:embeddedFont>
    <p:embeddedFont>
      <p:font typeface="Calibri (MS) Light" charset="1" panose="020F0302020204030204"/>
      <p:regular r:id="rId14"/>
    </p:embeddedFont>
    <p:embeddedFont>
      <p:font typeface="Calibri (MS) Light Italics" charset="1" panose="020F0302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slides/slide1.xml" Type="http://schemas.openxmlformats.org/officeDocument/2006/relationships/slide"/><Relationship Id="rId17" Target="slides/slide2.xml" Type="http://schemas.openxmlformats.org/officeDocument/2006/relationships/slide"/><Relationship Id="rId18" Target="slides/slide3.xml" Type="http://schemas.openxmlformats.org/officeDocument/2006/relationships/slide"/><Relationship Id="rId19" Target="slides/slide4.xml" Type="http://schemas.openxmlformats.org/officeDocument/2006/relationships/slide"/><Relationship Id="rId2" Target="presProps.xml" Type="http://schemas.openxmlformats.org/officeDocument/2006/relationships/presProps"/><Relationship Id="rId20" Target="slides/slide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711811"/>
            <a:ext cx="10724012" cy="1367790"/>
            <a:chOff x="0" y="0"/>
            <a:chExt cx="14298683" cy="18237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090295"/>
              <a:ext cx="9499197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731F7D"/>
                  </a:solidFill>
                  <a:latin typeface="Calibri (MS)"/>
                </a:rPr>
                <a:t>Final Project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4298683" cy="1318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>
                <a:lnSpc>
                  <a:spcPts val="7080"/>
                </a:lnSpc>
              </a:pPr>
              <a:r>
                <a:rPr lang="en-US" sz="6000">
                  <a:solidFill>
                    <a:srgbClr val="000000"/>
                  </a:solidFill>
                  <a:latin typeface="Calibri (MS) Bold"/>
                </a:rPr>
                <a:t>Αναγνώριση Προτύπων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624184">
            <a:off x="9190413" y="-1204481"/>
            <a:ext cx="9054625" cy="8058616"/>
          </a:xfrm>
          <a:custGeom>
            <a:avLst/>
            <a:gdLst/>
            <a:ahLst/>
            <a:cxnLst/>
            <a:rect r="r" b="b" t="t" l="l"/>
            <a:pathLst>
              <a:path h="8058616" w="9054625">
                <a:moveTo>
                  <a:pt x="0" y="0"/>
                </a:moveTo>
                <a:lnTo>
                  <a:pt x="9054625" y="0"/>
                </a:lnTo>
                <a:lnTo>
                  <a:pt x="9054625" y="8058616"/>
                </a:lnTo>
                <a:lnTo>
                  <a:pt x="0" y="8058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017281">
            <a:off x="7304671" y="971407"/>
            <a:ext cx="1811240" cy="1716150"/>
          </a:xfrm>
          <a:custGeom>
            <a:avLst/>
            <a:gdLst/>
            <a:ahLst/>
            <a:cxnLst/>
            <a:rect r="r" b="b" t="t" l="l"/>
            <a:pathLst>
              <a:path h="1716150" w="1811240">
                <a:moveTo>
                  <a:pt x="0" y="0"/>
                </a:moveTo>
                <a:lnTo>
                  <a:pt x="1811240" y="0"/>
                </a:lnTo>
                <a:lnTo>
                  <a:pt x="1811240" y="1716150"/>
                </a:lnTo>
                <a:lnTo>
                  <a:pt x="0" y="1716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67437">
            <a:off x="16126494" y="6825098"/>
            <a:ext cx="3789612" cy="3623816"/>
          </a:xfrm>
          <a:custGeom>
            <a:avLst/>
            <a:gdLst/>
            <a:ahLst/>
            <a:cxnLst/>
            <a:rect r="r" b="b" t="t" l="l"/>
            <a:pathLst>
              <a:path h="3623816" w="3789612">
                <a:moveTo>
                  <a:pt x="0" y="0"/>
                </a:moveTo>
                <a:lnTo>
                  <a:pt x="3789612" y="0"/>
                </a:lnTo>
                <a:lnTo>
                  <a:pt x="3789612" y="3623816"/>
                </a:lnTo>
                <a:lnTo>
                  <a:pt x="0" y="362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815316"/>
            <a:ext cx="10724012" cy="127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1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</a:rPr>
              <a:t>Δημήτριος Αναστασούδης</a:t>
            </a:r>
          </a:p>
          <a:p>
            <a:pPr>
              <a:lnSpc>
                <a:spcPts val="4719"/>
              </a:lnSpc>
            </a:pPr>
            <a:r>
              <a:rPr lang="en-US" sz="3999">
                <a:solidFill>
                  <a:srgbClr val="000000"/>
                </a:solidFill>
                <a:latin typeface="Calibri (MS)"/>
              </a:rPr>
              <a:t>58085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94169">
            <a:off x="-2768217" y="5870308"/>
            <a:ext cx="6176663" cy="5906434"/>
          </a:xfrm>
          <a:custGeom>
            <a:avLst/>
            <a:gdLst/>
            <a:ahLst/>
            <a:cxnLst/>
            <a:rect r="r" b="b" t="t" l="l"/>
            <a:pathLst>
              <a:path h="5906434" w="6176663">
                <a:moveTo>
                  <a:pt x="0" y="0"/>
                </a:moveTo>
                <a:lnTo>
                  <a:pt x="6176663" y="0"/>
                </a:lnTo>
                <a:lnTo>
                  <a:pt x="6176663" y="5906433"/>
                </a:lnTo>
                <a:lnTo>
                  <a:pt x="0" y="5906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1105" y="2218762"/>
            <a:ext cx="4544283" cy="147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582"/>
              </a:lnSpc>
            </a:pPr>
            <a:r>
              <a:rPr lang="en-US" sz="4294">
                <a:solidFill>
                  <a:srgbClr val="731F7D"/>
                </a:solidFill>
                <a:latin typeface="Calibri (MS)"/>
              </a:rPr>
              <a:t>Βήματα που ακολουθήθηκαν: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21105" y="3896613"/>
            <a:ext cx="4733533" cy="2372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Επιλογή κατάλληλου αλγορίθμου</a:t>
            </a:r>
          </a:p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Καθορισμός των βέλτιστων παραμέτρων για το καλύτερο αποτέλεσμα</a:t>
            </a:r>
          </a:p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Σωστό prediction ταξινόμησης για mask_incorrect_use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440951">
            <a:off x="-1013944" y="-2567596"/>
            <a:ext cx="4449580" cy="4215977"/>
          </a:xfrm>
          <a:custGeom>
            <a:avLst/>
            <a:gdLst/>
            <a:ahLst/>
            <a:cxnLst/>
            <a:rect r="r" b="b" t="t" l="l"/>
            <a:pathLst>
              <a:path h="4215977" w="4449580">
                <a:moveTo>
                  <a:pt x="0" y="0"/>
                </a:moveTo>
                <a:lnTo>
                  <a:pt x="4449580" y="0"/>
                </a:lnTo>
                <a:lnTo>
                  <a:pt x="4449580" y="4215977"/>
                </a:lnTo>
                <a:lnTo>
                  <a:pt x="0" y="4215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1620" y="248673"/>
            <a:ext cx="3863482" cy="60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72"/>
              </a:lnSpc>
            </a:pPr>
            <a:r>
              <a:rPr lang="en-US" sz="3536">
                <a:solidFill>
                  <a:srgbClr val="FFFFFF"/>
                </a:solidFill>
                <a:latin typeface="Calibri (MS) Bold"/>
              </a:rPr>
              <a:t>Άσκηση 1.</a:t>
            </a:r>
          </a:p>
        </p:txBody>
      </p:sp>
      <p:sp>
        <p:nvSpPr>
          <p:cNvPr name="AutoShape 7" id="7"/>
          <p:cNvSpPr/>
          <p:nvPr/>
        </p:nvSpPr>
        <p:spPr>
          <a:xfrm>
            <a:off x="9711751" y="584158"/>
            <a:ext cx="0" cy="892745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958616" y="933450"/>
            <a:ext cx="64232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Επιλογή κατάλληλου αλγορίθμου: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8616" y="7514410"/>
            <a:ext cx="64232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Αποτελέσματα: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8616" y="1530694"/>
            <a:ext cx="4733533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 Bold"/>
              </a:rPr>
              <a:t>Επέλεξα να χρησιμοποιήσω ένα CNN και όχι κάποιο Συμβατικό αλγόριθμο όπως ένα SVM γιατί: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Ε</a:t>
            </a:r>
            <a:r>
              <a:rPr lang="en-US" sz="2000" spc="-20">
                <a:solidFill>
                  <a:srgbClr val="000000"/>
                </a:solidFill>
                <a:latin typeface="Calibri (MS)"/>
              </a:rPr>
              <a:t>ίναι σχεδιασμένο να αναγνωρίζει τα pattern σε εικόνες μέσω της εκμάθησης χαρακτηριστικών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Έχει μεγαλύτερη θεωρητική απόδοση με μεγαλύτερο accuracy από τις υπόλοιπες τεχνικές</a:t>
            </a:r>
          </a:p>
          <a:p>
            <a:pPr>
              <a:lnSpc>
                <a:spcPts val="2800"/>
              </a:lnSpc>
            </a:pPr>
          </a:p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 Bold"/>
              </a:rPr>
              <a:t>Βέβαια είχε τα εξής αρνητικά: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Απαιτεί περισσότερα Resources και χρόνο εκπαίδευσης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Κίνδυνος Overfitting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8616" y="7990660"/>
            <a:ext cx="4733533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Validation Accuracy περίπου 98%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94169">
            <a:off x="-3277750" y="7098216"/>
            <a:ext cx="6176663" cy="5906434"/>
          </a:xfrm>
          <a:custGeom>
            <a:avLst/>
            <a:gdLst/>
            <a:ahLst/>
            <a:cxnLst/>
            <a:rect r="r" b="b" t="t" l="l"/>
            <a:pathLst>
              <a:path h="5906434" w="6176663">
                <a:moveTo>
                  <a:pt x="0" y="0"/>
                </a:moveTo>
                <a:lnTo>
                  <a:pt x="6176663" y="0"/>
                </a:lnTo>
                <a:lnTo>
                  <a:pt x="6176663" y="5906434"/>
                </a:lnTo>
                <a:lnTo>
                  <a:pt x="0" y="5906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40951">
            <a:off x="15521282" y="-2205827"/>
            <a:ext cx="4449580" cy="4215977"/>
          </a:xfrm>
          <a:custGeom>
            <a:avLst/>
            <a:gdLst/>
            <a:ahLst/>
            <a:cxnLst/>
            <a:rect r="r" b="b" t="t" l="l"/>
            <a:pathLst>
              <a:path h="4215977" w="4449580">
                <a:moveTo>
                  <a:pt x="0" y="0"/>
                </a:moveTo>
                <a:lnTo>
                  <a:pt x="4449580" y="0"/>
                </a:lnTo>
                <a:lnTo>
                  <a:pt x="4449580" y="4215977"/>
                </a:lnTo>
                <a:lnTo>
                  <a:pt x="0" y="4215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453823" y="584158"/>
            <a:ext cx="0" cy="8927456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42261" y="5364367"/>
            <a:ext cx="2664775" cy="1166234"/>
          </a:xfrm>
          <a:custGeom>
            <a:avLst/>
            <a:gdLst/>
            <a:ahLst/>
            <a:cxnLst/>
            <a:rect r="r" b="b" t="t" l="l"/>
            <a:pathLst>
              <a:path h="1166234" w="2664775">
                <a:moveTo>
                  <a:pt x="0" y="0"/>
                </a:moveTo>
                <a:lnTo>
                  <a:pt x="2664774" y="0"/>
                </a:lnTo>
                <a:lnTo>
                  <a:pt x="2664774" y="1166234"/>
                </a:lnTo>
                <a:lnTo>
                  <a:pt x="0" y="1166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9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1467" y="5534432"/>
            <a:ext cx="4045235" cy="2930544"/>
          </a:xfrm>
          <a:custGeom>
            <a:avLst/>
            <a:gdLst/>
            <a:ahLst/>
            <a:cxnLst/>
            <a:rect r="r" b="b" t="t" l="l"/>
            <a:pathLst>
              <a:path h="2930544" w="4045235">
                <a:moveTo>
                  <a:pt x="0" y="0"/>
                </a:moveTo>
                <a:lnTo>
                  <a:pt x="4045235" y="0"/>
                </a:lnTo>
                <a:lnTo>
                  <a:pt x="4045235" y="2930545"/>
                </a:lnTo>
                <a:lnTo>
                  <a:pt x="0" y="29305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02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41857" y="424406"/>
            <a:ext cx="3863482" cy="604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72"/>
              </a:lnSpc>
            </a:pPr>
            <a:r>
              <a:rPr lang="en-US" sz="3536">
                <a:solidFill>
                  <a:srgbClr val="FFFFFF"/>
                </a:solidFill>
                <a:latin typeface="Calibri (MS) Bold"/>
              </a:rPr>
              <a:t>Άσκηση 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09333" y="556039"/>
            <a:ext cx="642326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Σωστό prediction ταξινόμησης για mask_incorrect_use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5373" y="6388070"/>
            <a:ext cx="64232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Η επιλογή μου και τα αποτελέσματα: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09333" y="1725025"/>
            <a:ext cx="4733533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Αρχικά, το ποσοστό των εικόνων “mask_incorrect_use που ταξινομήθηκαν λάθος, ήταν από περίπου 11-17%.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5373" y="7064345"/>
            <a:ext cx="3828529" cy="114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239"/>
              </a:lnSpc>
            </a:pPr>
            <a:r>
              <a:rPr lang="en-US" sz="1599" spc="-15">
                <a:solidFill>
                  <a:srgbClr val="000000"/>
                </a:solidFill>
                <a:latin typeface="Calibri (MS)"/>
              </a:rPr>
              <a:t>Επέλεξα να χρησιμοποιήσω το Anomaly Detection, και το τελικό ποσοστό των εικόνων “mask_incorrect_use που ταξινομήθηκαν λάθος, ήταν από περίπου 7-10%.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2261" y="556039"/>
            <a:ext cx="642326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Καθορισμός των βέλτιστων παραμέτρων για το καλύτερο αποτέλεσμα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2261" y="4647113"/>
            <a:ext cx="64232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Αποτελέσματα: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0131" y="1725025"/>
            <a:ext cx="4733533" cy="284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Για τον καθορισμό των βέλτιστων παραμέτρων, χρησιμοποιήθηκε ένας αυτοματισμός με την χρήση του Kensas Tuner. </a:t>
            </a:r>
          </a:p>
          <a:p>
            <a:pPr>
              <a:lnSpc>
                <a:spcPts val="2800"/>
              </a:lnSpc>
            </a:pPr>
          </a:p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Κατα τη διάρκεια αυτού, δοκιμάζονταν ζευγάρια παραμέτρων, σε συγκεκριμένα πλαίσια μέχρι να βρεθούν οι βέλτιστοι παράμετροι.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0131" y="6645245"/>
            <a:ext cx="3463264" cy="1060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048"/>
              </a:lnSpc>
            </a:pPr>
            <a:r>
              <a:rPr lang="en-US" sz="1463" spc="-14">
                <a:solidFill>
                  <a:srgbClr val="000000"/>
                </a:solidFill>
                <a:latin typeface="Calibri (MS)"/>
              </a:rPr>
              <a:t>Τελική ακρίβεια: Από 97-98.8%</a:t>
            </a:r>
          </a:p>
          <a:p>
            <a:pPr>
              <a:lnSpc>
                <a:spcPts val="2048"/>
              </a:lnSpc>
            </a:pPr>
            <a:r>
              <a:rPr lang="en-US" sz="1463" spc="-14">
                <a:solidFill>
                  <a:srgbClr val="000000"/>
                </a:solidFill>
                <a:latin typeface="Calibri (MS)"/>
              </a:rPr>
              <a:t>Αυτό, είχε να κάνει με μερικές παραμέτρους που έθετα, όπως κάποιων για λειτουργία stop early, των εποχών, αλλά και του batch size.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3303" y="7943869"/>
            <a:ext cx="2960093" cy="80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48"/>
              </a:lnSpc>
            </a:pPr>
            <a:r>
              <a:rPr lang="en-US" sz="1463" spc="-14">
                <a:solidFill>
                  <a:srgbClr val="000000"/>
                </a:solidFill>
                <a:latin typeface="Calibri (MS)"/>
              </a:rPr>
              <a:t>Τελικό AUC: Από 96-98%</a:t>
            </a:r>
          </a:p>
          <a:p>
            <a:pPr algn="r">
              <a:lnSpc>
                <a:spcPts val="2048"/>
              </a:lnSpc>
            </a:pPr>
            <a:r>
              <a:rPr lang="en-US" sz="1463" spc="-14">
                <a:solidFill>
                  <a:srgbClr val="000000"/>
                </a:solidFill>
                <a:latin typeface="Calibri (MS)"/>
              </a:rPr>
              <a:t>Αυτό, επίσης είχε να κάνει με τα προηγούμενα.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09333" y="3192015"/>
            <a:ext cx="64232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Τρόποι βελτιστοποίησης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9333" y="3868290"/>
            <a:ext cx="4733533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Data Augmentation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Εισαγωγή συναρτήσεων κόστους στις κλάσεις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Χρήση transfer learning από μοντέλα που έχουν ήδη εκπαιδευτεί πάνω σε αυτό</a:t>
            </a:r>
          </a:p>
          <a:p>
            <a:pPr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Anomaly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00451" y="7064345"/>
            <a:ext cx="3864300" cy="1416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239"/>
              </a:lnSpc>
            </a:pPr>
            <a:r>
              <a:rPr lang="en-US" sz="1599" spc="-15">
                <a:solidFill>
                  <a:srgbClr val="000000"/>
                </a:solidFill>
                <a:latin typeface="Calibri (MS)"/>
              </a:rPr>
              <a:t>Ωστόσο, για να επιτευχθεί αυτό, χρησιμοποίσα ένα πολύ μικρό threshold το οποίο είναι επικύνδινο για την αύξηση των False Positives, τη μείωση της ευαισθησίας αλλά και της απόδοσης.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4633">
            <a:off x="-2022061" y="8242530"/>
            <a:ext cx="4315504" cy="4088940"/>
          </a:xfrm>
          <a:custGeom>
            <a:avLst/>
            <a:gdLst/>
            <a:ahLst/>
            <a:cxnLst/>
            <a:rect r="r" b="b" t="t" l="l"/>
            <a:pathLst>
              <a:path h="4088940" w="4315504">
                <a:moveTo>
                  <a:pt x="0" y="0"/>
                </a:moveTo>
                <a:lnTo>
                  <a:pt x="4315504" y="0"/>
                </a:lnTo>
                <a:lnTo>
                  <a:pt x="4315504" y="4088940"/>
                </a:lnTo>
                <a:lnTo>
                  <a:pt x="0" y="4088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13119">
            <a:off x="14652172" y="-1579634"/>
            <a:ext cx="5214256" cy="4986132"/>
          </a:xfrm>
          <a:custGeom>
            <a:avLst/>
            <a:gdLst/>
            <a:ahLst/>
            <a:cxnLst/>
            <a:rect r="r" b="b" t="t" l="l"/>
            <a:pathLst>
              <a:path h="4986132" w="5214256">
                <a:moveTo>
                  <a:pt x="0" y="0"/>
                </a:moveTo>
                <a:lnTo>
                  <a:pt x="5214256" y="0"/>
                </a:lnTo>
                <a:lnTo>
                  <a:pt x="5214256" y="4986132"/>
                </a:lnTo>
                <a:lnTo>
                  <a:pt x="0" y="4986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1620" y="251055"/>
            <a:ext cx="3863482" cy="59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72"/>
              </a:lnSpc>
            </a:pPr>
            <a:r>
              <a:rPr lang="en-US" sz="3536">
                <a:solidFill>
                  <a:srgbClr val="000000"/>
                </a:solidFill>
                <a:latin typeface="Calibri (MS) Bold"/>
              </a:rPr>
              <a:t>Άσκηση 2.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1105" y="2218762"/>
            <a:ext cx="4544283" cy="147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582"/>
              </a:lnSpc>
            </a:pPr>
            <a:r>
              <a:rPr lang="en-US" sz="4294">
                <a:solidFill>
                  <a:srgbClr val="731F7D"/>
                </a:solidFill>
                <a:latin typeface="Calibri (MS)"/>
              </a:rPr>
              <a:t>Βήματα που ακολουθήθηκαν: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105" y="3896613"/>
            <a:ext cx="4733533" cy="315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Διαχωρισμός των data ανάλογα με την κατηγορία τους για το  preprocessing</a:t>
            </a:r>
          </a:p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Επιλογή κατάλληλου αλγορίθμου</a:t>
            </a:r>
          </a:p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Καθορισμός των βέλτιστων παραμέτρων για το καλύτερο αποτέλεσμα</a:t>
            </a:r>
          </a:p>
          <a:p>
            <a:pPr marL="477849" indent="-238924" lvl="1">
              <a:lnSpc>
                <a:spcPts val="3098"/>
              </a:lnSpc>
              <a:buFont typeface="Arial"/>
              <a:buChar char="•"/>
            </a:pPr>
            <a:r>
              <a:rPr lang="en-US" sz="2213" spc="-22">
                <a:solidFill>
                  <a:srgbClr val="000000"/>
                </a:solidFill>
                <a:latin typeface="Calibri (MS)"/>
              </a:rPr>
              <a:t>Prediction accuracy για το test set</a:t>
            </a:r>
          </a:p>
        </p:txBody>
      </p:sp>
      <p:sp>
        <p:nvSpPr>
          <p:cNvPr name="AutoShape 7" id="7"/>
          <p:cNvSpPr/>
          <p:nvPr/>
        </p:nvSpPr>
        <p:spPr>
          <a:xfrm>
            <a:off x="9711751" y="584158"/>
            <a:ext cx="0" cy="926290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329652" y="942975"/>
            <a:ext cx="5636598" cy="921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22"/>
              </a:lnSpc>
            </a:pPr>
            <a:r>
              <a:rPr lang="en-US" sz="2632">
                <a:solidFill>
                  <a:srgbClr val="731F7D"/>
                </a:solidFill>
                <a:latin typeface="Calibri (MS)"/>
              </a:rPr>
              <a:t>Διαχωρισμός των data ανάλογα με την κατηγορία τους για το</a:t>
            </a:r>
            <a:r>
              <a:rPr lang="en-US" sz="2632">
                <a:solidFill>
                  <a:srgbClr val="731F7D"/>
                </a:solidFill>
                <a:latin typeface="Calibri (MS)"/>
              </a:rPr>
              <a:t>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9652" y="8802688"/>
            <a:ext cx="6423268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250"/>
              </a:lnSpc>
            </a:pPr>
            <a:r>
              <a:rPr lang="en-US" sz="2500">
                <a:solidFill>
                  <a:srgbClr val="731F7D"/>
                </a:solidFill>
                <a:latin typeface="Calibri (MS)"/>
              </a:rPr>
              <a:t>Αποτελέσματα: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29652" y="3906138"/>
            <a:ext cx="3756295" cy="479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221"/>
              </a:lnSpc>
            </a:pPr>
            <a:r>
              <a:rPr lang="en-US" sz="1587" spc="-15">
                <a:solidFill>
                  <a:srgbClr val="000000"/>
                </a:solidFill>
                <a:latin typeface="Calibri (MS) Bold"/>
              </a:rPr>
              <a:t>Επέλεξα να χρησιμοποιήσω το συνδυασμός της PCA και ενός CNN και όχι κάποιο Συμβατικό αλγόριθμο όπως ένα SVM γιατί:</a:t>
            </a:r>
          </a:p>
          <a:p>
            <a:pPr marL="342655" indent="-171328" lvl="1">
              <a:lnSpc>
                <a:spcPts val="2221"/>
              </a:lnSpc>
              <a:buFont typeface="Arial"/>
              <a:buChar char="•"/>
            </a:pPr>
            <a:r>
              <a:rPr lang="en-US" sz="1587" spc="-15">
                <a:solidFill>
                  <a:srgbClr val="000000"/>
                </a:solidFill>
                <a:latin typeface="Calibri (MS)"/>
              </a:rPr>
              <a:t>Το CNN </a:t>
            </a:r>
            <a:r>
              <a:rPr lang="en-US" sz="1587" spc="-15">
                <a:solidFill>
                  <a:srgbClr val="000000"/>
                </a:solidFill>
                <a:latin typeface="Calibri (MS)"/>
              </a:rPr>
              <a:t>είναι σχεδιασμένο να αναγνωρίζει τα pattern σε εικόνες μέσω της εκμάθησης χαρακτηριστικών</a:t>
            </a:r>
          </a:p>
          <a:p>
            <a:pPr marL="342655" indent="-171328" lvl="1">
              <a:lnSpc>
                <a:spcPts val="2221"/>
              </a:lnSpc>
              <a:buFont typeface="Arial"/>
              <a:buChar char="•"/>
            </a:pPr>
            <a:r>
              <a:rPr lang="en-US" sz="1587" spc="-15">
                <a:solidFill>
                  <a:srgbClr val="000000"/>
                </a:solidFill>
                <a:latin typeface="Calibri (MS)"/>
              </a:rPr>
              <a:t>Έχει μεγαλύτερη θεωρητική απόδοση με μεγαλύτερο accuracy από τις υπόλοιπες τεχνικές</a:t>
            </a:r>
          </a:p>
          <a:p>
            <a:pPr marL="342655" indent="-171328" lvl="1">
              <a:lnSpc>
                <a:spcPts val="2221"/>
              </a:lnSpc>
              <a:buFont typeface="Arial"/>
              <a:buChar char="•"/>
            </a:pPr>
            <a:r>
              <a:rPr lang="en-US" sz="1587" spc="-15">
                <a:solidFill>
                  <a:srgbClr val="000000"/>
                </a:solidFill>
                <a:latin typeface="Calibri (MS)"/>
              </a:rPr>
              <a:t>Η εφαρμογή της PCA θα συμβάλλει στην απλοποίηση του ζητήματός μας αλλά και των διαστάσεων των δεδομένων</a:t>
            </a:r>
          </a:p>
          <a:p>
            <a:pPr>
              <a:lnSpc>
                <a:spcPts val="2221"/>
              </a:lnSpc>
            </a:pPr>
          </a:p>
          <a:p>
            <a:pPr>
              <a:lnSpc>
                <a:spcPts val="2221"/>
              </a:lnSpc>
            </a:pPr>
            <a:r>
              <a:rPr lang="en-US" sz="1587" spc="-15">
                <a:solidFill>
                  <a:srgbClr val="000000"/>
                </a:solidFill>
                <a:latin typeface="Calibri (MS) Bold"/>
              </a:rPr>
              <a:t>Βέβαια είχε τα εξής αρνητικά:</a:t>
            </a:r>
          </a:p>
          <a:p>
            <a:pPr marL="342655" indent="-171328" lvl="1">
              <a:lnSpc>
                <a:spcPts val="2221"/>
              </a:lnSpc>
              <a:buFont typeface="Arial"/>
              <a:buChar char="•"/>
            </a:pPr>
            <a:r>
              <a:rPr lang="en-US" sz="1587" spc="-15">
                <a:solidFill>
                  <a:srgbClr val="000000"/>
                </a:solidFill>
                <a:latin typeface="Calibri (MS)"/>
              </a:rPr>
              <a:t>Απαιτεί περισσότερα Resources και χρόνο εκπαίδευσης</a:t>
            </a:r>
          </a:p>
          <a:p>
            <a:pPr marL="342655" indent="-171328" lvl="1">
              <a:lnSpc>
                <a:spcPts val="2221"/>
              </a:lnSpc>
              <a:buFont typeface="Arial"/>
              <a:buChar char="•"/>
            </a:pPr>
            <a:r>
              <a:rPr lang="en-US" sz="1587" spc="-15">
                <a:solidFill>
                  <a:srgbClr val="000000"/>
                </a:solidFill>
                <a:latin typeface="Calibri (MS)"/>
              </a:rPr>
              <a:t>Κίνδυνος Overfitting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29652" y="9332912"/>
            <a:ext cx="473353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-18">
                <a:solidFill>
                  <a:srgbClr val="000000"/>
                </a:solidFill>
                <a:latin typeface="Calibri (MS)"/>
              </a:rPr>
              <a:t>Accuracy πάνω από 90%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29652" y="1937492"/>
            <a:ext cx="4733533" cy="108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Καθώς τα πρώτα Data είχαν συνεχείς τιμές, έγινε ένα scaling στο κομμάτι του preprocessing προτού γίνει η εκπαίδευση.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29652" y="3346972"/>
            <a:ext cx="5636598" cy="48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22"/>
              </a:lnSpc>
            </a:pPr>
            <a:r>
              <a:rPr lang="en-US" sz="2632">
                <a:solidFill>
                  <a:srgbClr val="731F7D"/>
                </a:solidFill>
                <a:latin typeface="Calibri (MS)"/>
              </a:rPr>
              <a:t>Επιλογή κατάλληλου αλγορίθμου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94633">
            <a:off x="-2022061" y="8242530"/>
            <a:ext cx="4315504" cy="4088940"/>
          </a:xfrm>
          <a:custGeom>
            <a:avLst/>
            <a:gdLst/>
            <a:ahLst/>
            <a:cxnLst/>
            <a:rect r="r" b="b" t="t" l="l"/>
            <a:pathLst>
              <a:path h="4088940" w="4315504">
                <a:moveTo>
                  <a:pt x="0" y="0"/>
                </a:moveTo>
                <a:lnTo>
                  <a:pt x="4315504" y="0"/>
                </a:lnTo>
                <a:lnTo>
                  <a:pt x="4315504" y="4088940"/>
                </a:lnTo>
                <a:lnTo>
                  <a:pt x="0" y="4088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13119">
            <a:off x="-2758821" y="-2985135"/>
            <a:ext cx="5214256" cy="4986132"/>
          </a:xfrm>
          <a:custGeom>
            <a:avLst/>
            <a:gdLst/>
            <a:ahLst/>
            <a:cxnLst/>
            <a:rect r="r" b="b" t="t" l="l"/>
            <a:pathLst>
              <a:path h="4986132" w="5214256">
                <a:moveTo>
                  <a:pt x="0" y="0"/>
                </a:moveTo>
                <a:lnTo>
                  <a:pt x="5214256" y="0"/>
                </a:lnTo>
                <a:lnTo>
                  <a:pt x="5214256" y="4986132"/>
                </a:lnTo>
                <a:lnTo>
                  <a:pt x="0" y="4986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9711751" y="584158"/>
            <a:ext cx="0" cy="9262904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424078" y="6898194"/>
            <a:ext cx="3963197" cy="2360106"/>
          </a:xfrm>
          <a:custGeom>
            <a:avLst/>
            <a:gdLst/>
            <a:ahLst/>
            <a:cxnLst/>
            <a:rect r="r" b="b" t="t" l="l"/>
            <a:pathLst>
              <a:path h="2360106" w="3963197">
                <a:moveTo>
                  <a:pt x="0" y="0"/>
                </a:moveTo>
                <a:lnTo>
                  <a:pt x="3963197" y="0"/>
                </a:lnTo>
                <a:lnTo>
                  <a:pt x="3963197" y="2360106"/>
                </a:lnTo>
                <a:lnTo>
                  <a:pt x="0" y="2360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66250" y="251055"/>
            <a:ext cx="3863482" cy="599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172"/>
              </a:lnSpc>
            </a:pPr>
            <a:r>
              <a:rPr lang="en-US" sz="3536">
                <a:solidFill>
                  <a:srgbClr val="000000"/>
                </a:solidFill>
                <a:latin typeface="Calibri (MS) Bold"/>
              </a:rPr>
              <a:t>Άσκηση 2.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21007" y="2672835"/>
            <a:ext cx="5636598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199"/>
              </a:lnSpc>
            </a:pPr>
            <a:r>
              <a:rPr lang="en-US" sz="3999">
                <a:solidFill>
                  <a:srgbClr val="731F7D"/>
                </a:solidFill>
                <a:latin typeface="Calibri (MS)"/>
              </a:rPr>
              <a:t>Prediction Accuracy για το test set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21007" y="4517510"/>
            <a:ext cx="6104427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spc="-30">
                <a:solidFill>
                  <a:srgbClr val="000000"/>
                </a:solidFill>
                <a:latin typeface="Calibri (MS)"/>
              </a:rPr>
              <a:t>Το Accuracy αυτή τη φορά ήταν περίπου ίσο με 90%.</a:t>
            </a:r>
          </a:p>
          <a:p>
            <a:pPr>
              <a:lnSpc>
                <a:spcPts val="4200"/>
              </a:lnSpc>
            </a:pPr>
          </a:p>
          <a:p>
            <a:pPr>
              <a:lnSpc>
                <a:spcPts val="4200"/>
              </a:lnSpc>
            </a:pPr>
            <a:r>
              <a:rPr lang="en-US" sz="3000" spc="-30">
                <a:solidFill>
                  <a:srgbClr val="000000"/>
                </a:solidFill>
                <a:latin typeface="Calibri (MS)"/>
              </a:rPr>
              <a:t>Επιπλέον το AUC ή Area Under Curve έπαιρνε τιμές κοντά στο 0.95 ή 95%.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5892" y="2323049"/>
            <a:ext cx="642326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Καθορισμός των βέλτιστων παραμέτρων για το καλύτερο αποτέλεσμα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5892" y="6679685"/>
            <a:ext cx="642326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00"/>
              </a:lnSpc>
            </a:pPr>
            <a:r>
              <a:rPr lang="en-US" sz="3000">
                <a:solidFill>
                  <a:srgbClr val="731F7D"/>
                </a:solidFill>
                <a:latin typeface="Calibri (MS)"/>
              </a:rPr>
              <a:t>Αποτελέσματα: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3763" y="3492035"/>
            <a:ext cx="4733533" cy="319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Για τον καθορισμό των βέλτιστων παραμέτρων, χρησιμοποιήθηκε, όπως προηγουμένως ένας αυτοματισμός με την χρήση του Kensas Tuner. </a:t>
            </a:r>
          </a:p>
          <a:p>
            <a:pPr>
              <a:lnSpc>
                <a:spcPts val="2800"/>
              </a:lnSpc>
            </a:pPr>
          </a:p>
          <a:p>
            <a:pPr>
              <a:lnSpc>
                <a:spcPts val="2800"/>
              </a:lnSpc>
            </a:pPr>
            <a:r>
              <a:rPr lang="en-US" sz="2000" spc="-20">
                <a:solidFill>
                  <a:srgbClr val="000000"/>
                </a:solidFill>
                <a:latin typeface="Calibri (MS)"/>
              </a:rPr>
              <a:t>Κατα τη διάρκεια αυτού, δοκιμάζονταν ζευγάρια παραμέτρων, σε συγκεκριμένα πλαίσια μέχρι να βρεθούν οι βέλτιστοι παράμετροι.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DAF6iPiwn9M</dc:identifier>
  <dcterms:modified xsi:type="dcterms:W3CDTF">2011-08-01T06:04:30Z</dcterms:modified>
  <cp:revision>1</cp:revision>
  <dc:title>Άσκηση 1.</dc:title>
</cp:coreProperties>
</file>